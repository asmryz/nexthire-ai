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 Bold" panose="00000000000000000000" charset="1"/>
      <p:regular r:id="rId18"/>
    </p:embeddedFont>
    <p:embeddedFont>
      <p:font typeface="Poppins Italics" panose="00000500000000000000" charset="1"/>
      <p:regular r:id="rId19"/>
    </p:embeddedFont>
    <p:embeddedFont>
      <p:font typeface="Poppins" panose="00000500000000000000" charset="1"/>
      <p:regular r:id="rId20"/>
    </p:embeddedFont>
    <p:embeddedFont>
      <p:font typeface="Poppins Bold" panose="00000800000000000000" charset="1"/>
      <p:regular r:id="rId21"/>
    </p:embeddedFont>
    <p:embeddedFont>
      <p:font typeface="DM Sans" panose="00000000000000000000" charset="1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font" Target="/ppt/fonts/font18.fntdata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font" Target="/ppt/fonts/font21.fntdata" Id="rId21" /><Relationship Type="http://schemas.openxmlformats.org/officeDocument/2006/relationships/font" Target="/ppt/fonts/font22.fntdata" Id="rId2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pn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pn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png" Id="rId2" /><Relationship Type="http://schemas.openxmlformats.org/officeDocument/2006/relationships/image" Target="/ppt/media/image4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png" Id="rId2" /><Relationship Type="http://schemas.openxmlformats.org/officeDocument/2006/relationships/image" Target="/ppt/media/image7.pn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png" Id="rId2" /><Relationship Type="http://schemas.openxmlformats.org/officeDocument/2006/relationships/image" Target="/ppt/media/image8.pn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Relationship Type="http://schemas.openxmlformats.org/officeDocument/2006/relationships/image" Target="/ppt/media/image9.pn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2" /><Relationship Type="http://schemas.openxmlformats.org/officeDocument/2006/relationships/image" Target="/ppt/media/image11.pn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2" /><Relationship Type="http://schemas.openxmlformats.org/officeDocument/2006/relationships/image" Target="/ppt/media/image12.pn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png" Id="rId2" /><Relationship Type="http://schemas.openxmlformats.org/officeDocument/2006/relationships/image" Target="/ppt/media/image13.pn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4.png" Id="rId2" /><Relationship Type="http://schemas.openxmlformats.org/officeDocument/2006/relationships/image" Target="/ppt/media/image15.pn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"/>
          <p:cNvSpPr/>
          <p:nvPr/>
        </p:nvSpPr>
        <p:spPr>
          <a:xfrm flipH="true" flipV="false" rot="-4319139">
            <a:off x="1717312" y="-2532663"/>
            <a:ext cx="14853376" cy="15352326"/>
          </a:xfrm>
          <a:custGeom>
            <a:avLst/>
            <a:gdLst/>
            <a:ahLst/>
            <a:cxnLst/>
            <a:rect r="r" b="b" t="t" l="l"/>
            <a:pathLst>
              <a:path h="15352326" w="14853376">
                <a:moveTo>
                  <a:pt x="14853376" y="0"/>
                </a:moveTo>
                <a:lnTo>
                  <a:pt x="0" y="0"/>
                </a:lnTo>
                <a:lnTo>
                  <a:pt x="0" y="15352326"/>
                </a:lnTo>
                <a:lnTo>
                  <a:pt x="14853376" y="15352326"/>
                </a:lnTo>
                <a:lnTo>
                  <a:pt x="1485337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0" y="6903230"/>
            <a:ext cx="16230600" cy="476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569480"/>
            <a:ext cx="10362551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NEXHIRE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01212"/>
            <a:ext cx="16740711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Smart Employee Recruitment &amp; AI Hiring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612843"/>
            <a:ext cx="6447671" cy="1614170"/>
            <a:chOff x="0" y="0"/>
            <a:chExt cx="8596894" cy="21522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45702"/>
              <a:ext cx="8596894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Shivani (2312133)</a:t>
              </a:r>
            </a:p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Aarian Kumar (2312101)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8596894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976312"/>
            <a:ext cx="406680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4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FINAL YEAR PROJECT 2026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7612843"/>
            <a:ext cx="3802433" cy="947420"/>
            <a:chOff x="0" y="0"/>
            <a:chExt cx="5069910" cy="12632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5069910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Project Supervisor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67902"/>
              <a:ext cx="3482392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Sir Asim Riaz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0">
            <a:off x="11270559" y="-3540568"/>
            <a:ext cx="8291788" cy="8229600"/>
          </a:xfrm>
          <a:custGeom>
            <a:avLst/>
            <a:gdLst/>
            <a:ahLst/>
            <a:cxnLst/>
            <a:rect r="r" b="b" t="t" l="l"/>
            <a:pathLst>
              <a:path h="8229600" w="8291788">
                <a:moveTo>
                  <a:pt x="0" y="0"/>
                </a:moveTo>
                <a:lnTo>
                  <a:pt x="8291789" y="0"/>
                </a:lnTo>
                <a:lnTo>
                  <a:pt x="82917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9573" y="1374241"/>
            <a:ext cx="837862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9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9573" y="3615477"/>
            <a:ext cx="14681521" cy="537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667" indent="-361834" lvl="1">
              <a:lnSpc>
                <a:spcPts val="4692"/>
              </a:lnSpc>
              <a:buFont typeface="Arial"/>
              <a:buChar char="•"/>
            </a:pPr>
            <a:r>
              <a:rPr lang="en-US" sz="33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web based AI assisted employee recruitment system.</a:t>
            </a:r>
          </a:p>
          <a:p>
            <a:pPr algn="l" marL="723667" indent="-361834" lvl="1">
              <a:lnSpc>
                <a:spcPts val="4692"/>
              </a:lnSpc>
              <a:buFont typeface="Arial"/>
              <a:buChar char="•"/>
            </a:pPr>
            <a:r>
              <a:rPr lang="en-US" sz="33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Centralizes vacancies, candidates, applications, interviews, and hiring decisions.</a:t>
            </a:r>
          </a:p>
          <a:p>
            <a:pPr algn="l" marL="723667" indent="-361834" lvl="1">
              <a:lnSpc>
                <a:spcPts val="4692"/>
              </a:lnSpc>
              <a:buFont typeface="Arial"/>
              <a:buChar char="•"/>
            </a:pPr>
            <a:r>
              <a:rPr lang="en-US" sz="33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two interfaces: H</a:t>
            </a:r>
            <a:r>
              <a:rPr lang="en-US" sz="3351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Admin Panel and Candidate Portal.</a:t>
            </a:r>
          </a:p>
          <a:p>
            <a:pPr algn="l" marL="723667" indent="-361834" lvl="1">
              <a:lnSpc>
                <a:spcPts val="4692"/>
              </a:lnSpc>
              <a:buFont typeface="Arial"/>
              <a:buChar char="•"/>
            </a:pPr>
            <a:r>
              <a:rPr lang="en-US" sz="3351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AI to evaluate candidate applications against vacancy specific requirements.</a:t>
            </a:r>
          </a:p>
          <a:p>
            <a:pPr algn="l" marL="723667" indent="-361834" lvl="1">
              <a:lnSpc>
                <a:spcPts val="4692"/>
              </a:lnSpc>
              <a:buFont typeface="Arial"/>
              <a:buChar char="•"/>
            </a:pPr>
            <a:r>
              <a:rPr lang="en-US" sz="3351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Manages the recruitment lifecycle from job posting to offer generation.</a:t>
            </a:r>
          </a:p>
          <a:p>
            <a:pPr algn="l">
              <a:lnSpc>
                <a:spcPts val="4692"/>
              </a:lnSpc>
            </a:pPr>
          </a:p>
        </p:txBody>
      </p: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9573" y="3248442"/>
            <a:ext cx="1511565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671846" y="962322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8412404">
            <a:off x="5808682" y="6172200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true">
            <a:off x="9577759" y="1507306"/>
            <a:ext cx="0" cy="734068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9865" y="2394885"/>
            <a:ext cx="7764135" cy="4292600"/>
            <a:chOff x="0" y="0"/>
            <a:chExt cx="10352180" cy="57234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85725"/>
              <a:ext cx="10352180" cy="374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</a:t>
              </a:r>
              <a:r>
                <a:rPr lang="en-US" b="true" sz="9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316942"/>
              <a:ext cx="10352180" cy="1406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Traditional recruitment processes face the following challenges: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46329" y="815587"/>
            <a:ext cx="7817251" cy="8655827"/>
            <a:chOff x="0" y="0"/>
            <a:chExt cx="10423002" cy="1154110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79289" y="-38100"/>
              <a:ext cx="10243713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03333"/>
              <a:ext cx="10423002" cy="10137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Manual CV screening is slow &amp; inconsistent.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Difficult to compare candidates fairly.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Recr</a:t>
              </a:r>
              <a:r>
                <a:rPr lang="en-US" sz="253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uitment scattered across emails, spreadsheets &amp; manual notes.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Lack of Centralized Tracking 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Lack of a complete application to hiring audit trail.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Interview scheduling &amp; feedback involve manual coordination.</a:t>
              </a:r>
            </a:p>
            <a:p>
              <a:pPr algn="l">
                <a:lnSpc>
                  <a:spcPts val="3543"/>
                </a:lnSpc>
              </a:pPr>
            </a:p>
            <a:p>
              <a:pPr algn="l" marL="546534" indent="-273267" lvl="1">
                <a:lnSpc>
                  <a:spcPts val="3543"/>
                </a:lnSpc>
                <a:buFont typeface="Arial"/>
                <a:buChar char="•"/>
              </a:pPr>
              <a:r>
                <a:rPr lang="en-US" sz="2531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Duplicate Applications.</a:t>
              </a:r>
            </a:p>
            <a:p>
              <a:pPr algn="l">
                <a:lnSpc>
                  <a:spcPts val="354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671846" y="967645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0">
            <a:off x="15031474" y="-3351609"/>
            <a:ext cx="8291788" cy="8229600"/>
          </a:xfrm>
          <a:custGeom>
            <a:avLst/>
            <a:gdLst/>
            <a:ahLst/>
            <a:cxnLst/>
            <a:rect r="r" b="b" t="t" l="l"/>
            <a:pathLst>
              <a:path h="8229600" w="8291788">
                <a:moveTo>
                  <a:pt x="0" y="0"/>
                </a:moveTo>
                <a:lnTo>
                  <a:pt x="8291788" y="0"/>
                </a:lnTo>
                <a:lnTo>
                  <a:pt x="82917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2966654"/>
            <a:ext cx="8122020" cy="5584935"/>
            <a:chOff x="0" y="0"/>
            <a:chExt cx="6159500" cy="4235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3"/>
              <a:stretch>
                <a:fillRect l="-3402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861879"/>
            <a:ext cx="9316740" cy="575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Industry: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HR Departments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Recruitment Agencies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HR-Tech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Application Areas: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Corporate HR Department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Companies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Universities and Organizations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Startups &amp; SMEs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3450"/>
            <a:ext cx="9664001" cy="1444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25"/>
              </a:lnSpc>
              <a:spcBef>
                <a:spcPct val="0"/>
              </a:spcBef>
            </a:pPr>
            <a:r>
              <a:rPr lang="en-US" b="true" sz="8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</a:t>
            </a:r>
            <a:r>
              <a:rPr lang="en-US" b="true" sz="88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rget Industry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1846" y="964983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704604"/>
          </a:xfrm>
          <a:custGeom>
            <a:avLst/>
            <a:gdLst/>
            <a:ahLst/>
            <a:cxnLst/>
            <a:rect r="r" b="b" t="t" l="l"/>
            <a:pathLst>
              <a:path h="3704604" w="18288000">
                <a:moveTo>
                  <a:pt x="0" y="0"/>
                </a:moveTo>
                <a:lnTo>
                  <a:pt x="18288000" y="0"/>
                </a:lnTo>
                <a:lnTo>
                  <a:pt x="18288000" y="3704604"/>
                </a:lnTo>
                <a:lnTo>
                  <a:pt x="0" y="370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565" r="0" b="-1267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29075"/>
            <a:ext cx="891992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  <a:r>
              <a:rPr lang="en-US" b="true" sz="6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31922" y="964227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6495" y="5267325"/>
            <a:ext cx="16312805" cy="481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entralized job vacancy and application management.</a:t>
            </a:r>
          </a:p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based candidate screening, skill matching, and ranking.</a:t>
            </a:r>
          </a:p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Duplicate candidate detection and match categorization.</a:t>
            </a:r>
          </a:p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Interview scheduling, feedback management, and recruitment stage tracking.</a:t>
            </a:r>
          </a:p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assisted interview questions and offer letter generation.</a:t>
            </a:r>
          </a:p>
          <a:p>
            <a:pPr algn="l" marL="728693" indent="-364347" lvl="1">
              <a:lnSpc>
                <a:spcPts val="4725"/>
              </a:lnSpc>
              <a:spcBef>
                <a:spcPct val="0"/>
              </a:spcBef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status tracking and hiring analytics.</a:t>
            </a:r>
          </a:p>
          <a:p>
            <a:pPr algn="l">
              <a:lnSpc>
                <a:spcPts val="47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0">
            <a:off x="-2018608" y="6497434"/>
            <a:ext cx="24409580" cy="10709695"/>
          </a:xfrm>
          <a:custGeom>
            <a:avLst/>
            <a:gdLst/>
            <a:ahLst/>
            <a:cxnLst/>
            <a:rect r="r" b="b" t="t" l="l"/>
            <a:pathLst>
              <a:path h="10709695" w="24409580">
                <a:moveTo>
                  <a:pt x="0" y="0"/>
                </a:moveTo>
                <a:lnTo>
                  <a:pt x="24409580" y="0"/>
                </a:lnTo>
                <a:lnTo>
                  <a:pt x="24409580" y="10709694"/>
                </a:lnTo>
                <a:lnTo>
                  <a:pt x="0" y="10709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66" t="0" r="-7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23502" y="775763"/>
            <a:ext cx="704099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 FYP 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25077" y="966314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0">
            <a:off x="-2018608" y="6497434"/>
            <a:ext cx="24409580" cy="10709695"/>
          </a:xfrm>
          <a:custGeom>
            <a:avLst/>
            <a:gdLst/>
            <a:ahLst/>
            <a:cxnLst/>
            <a:rect r="r" b="b" t="t" l="l"/>
            <a:pathLst>
              <a:path h="10709695" w="24409580">
                <a:moveTo>
                  <a:pt x="0" y="0"/>
                </a:moveTo>
                <a:lnTo>
                  <a:pt x="24409580" y="0"/>
                </a:lnTo>
                <a:lnTo>
                  <a:pt x="24409580" y="10709694"/>
                </a:lnTo>
                <a:lnTo>
                  <a:pt x="0" y="10709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66" t="0" r="-7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60802"/>
            <a:ext cx="18735756" cy="675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Interview Scheduling &amp; Feedback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Interview Questions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Shortlist / Reject Pipeline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Offer Letter Generation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AI Chatbot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Dashboard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Hiring Analytics &amp; Reports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Calendar Synchronization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Job Board Simulation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Bias/Fairness Dashboard</a:t>
            </a:r>
          </a:p>
          <a:p>
            <a:pPr algn="l" marL="863601" indent="-431801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Testing, Deployment &amp; Documentation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95147" y="714507"/>
            <a:ext cx="729770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 FYP II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85154" y="963652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true" flipV="false" rot="6048134">
            <a:off x="8316145" y="-1562741"/>
            <a:ext cx="15136400" cy="15644858"/>
          </a:xfrm>
          <a:custGeom>
            <a:avLst/>
            <a:gdLst/>
            <a:ahLst/>
            <a:cxnLst/>
            <a:rect r="r" b="b" t="t" l="l"/>
            <a:pathLst>
              <a:path h="15644858" w="15136400">
                <a:moveTo>
                  <a:pt x="15136400" y="0"/>
                </a:moveTo>
                <a:lnTo>
                  <a:pt x="0" y="0"/>
                </a:lnTo>
                <a:lnTo>
                  <a:pt x="0" y="15644859"/>
                </a:lnTo>
                <a:lnTo>
                  <a:pt x="15136400" y="15644859"/>
                </a:lnTo>
                <a:lnTo>
                  <a:pt x="151364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1" y="2538462"/>
            <a:ext cx="1623060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1" y="942975"/>
            <a:ext cx="14280709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 Breakdown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08251" y="2824212"/>
            <a:ext cx="34613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WBS </a:t>
            </a:r>
            <a:r>
              <a:rPr lang="en-US" b="true" sz="5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FYP-I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11769" y="9663144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64125" y="-3869651"/>
            <a:ext cx="16240752" cy="461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Phase 1: Setup, Authentication &amp; Database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Phase 2: Job Posting &amp; Candidate Applications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Phase 3: AI Evaluation, Ranking &amp; Skill Matching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Phase 4: Duplicate Detection &amp; Match Tagging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Phase 5: Testing, Documentation &amp; Evaluation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2152296">
            <a:off x="10554543" y="-3785506"/>
            <a:ext cx="10173187" cy="10147754"/>
          </a:xfrm>
          <a:custGeom>
            <a:avLst/>
            <a:gdLst/>
            <a:ahLst/>
            <a:cxnLst/>
            <a:rect r="r" b="b" t="t" l="l"/>
            <a:pathLst>
              <a:path h="10147754" w="10173187">
                <a:moveTo>
                  <a:pt x="0" y="0"/>
                </a:moveTo>
                <a:lnTo>
                  <a:pt x="10173187" y="0"/>
                </a:lnTo>
                <a:lnTo>
                  <a:pt x="10173187" y="10147754"/>
                </a:lnTo>
                <a:lnTo>
                  <a:pt x="0" y="10147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9174" y="2659150"/>
            <a:ext cx="1623060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19172" y="981075"/>
            <a:ext cx="1623060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Work Breakdown Structure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7626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38385" y="970306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-3934330">
            <a:off x="8735911" y="-5500518"/>
            <a:ext cx="12220904" cy="12190352"/>
          </a:xfrm>
          <a:custGeom>
            <a:avLst/>
            <a:gdLst/>
            <a:ahLst/>
            <a:cxnLst/>
            <a:rect r="r" b="b" t="t" l="l"/>
            <a:pathLst>
              <a:path h="12190352" w="12220904">
                <a:moveTo>
                  <a:pt x="0" y="0"/>
                </a:moveTo>
                <a:lnTo>
                  <a:pt x="12220904" y="0"/>
                </a:lnTo>
                <a:lnTo>
                  <a:pt x="12220904" y="12190352"/>
                </a:lnTo>
                <a:lnTo>
                  <a:pt x="0" y="1219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549" y="2351138"/>
            <a:ext cx="1623060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43455" y="2604145"/>
            <a:ext cx="14705189" cy="7252384"/>
          </a:xfrm>
          <a:custGeom>
            <a:avLst/>
            <a:gdLst/>
            <a:ahLst/>
            <a:cxnLst/>
            <a:rect r="r" b="b" t="t" l="l"/>
            <a:pathLst>
              <a:path h="7252384" w="14705189">
                <a:moveTo>
                  <a:pt x="0" y="0"/>
                </a:moveTo>
                <a:lnTo>
                  <a:pt x="14705189" y="0"/>
                </a:lnTo>
                <a:lnTo>
                  <a:pt x="14705189" y="7252384"/>
                </a:lnTo>
                <a:lnTo>
                  <a:pt x="0" y="725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0" r="0" b="-69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76300"/>
            <a:ext cx="746085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Gantt Chart FYP-I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8462" y="964983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true" flipV="false" rot="-8100000">
            <a:off x="7089400" y="600041"/>
            <a:ext cx="8075295" cy="8229600"/>
          </a:xfrm>
          <a:custGeom>
            <a:avLst/>
            <a:gdLst/>
            <a:ahLst/>
            <a:cxnLst/>
            <a:rect r="r" b="b" t="t" l="l"/>
            <a:pathLst>
              <a:path h="8229600" w="8075295">
                <a:moveTo>
                  <a:pt x="8075295" y="0"/>
                </a:moveTo>
                <a:lnTo>
                  <a:pt x="0" y="0"/>
                </a:lnTo>
                <a:lnTo>
                  <a:pt x="0" y="8229600"/>
                </a:lnTo>
                <a:lnTo>
                  <a:pt x="8075295" y="8229600"/>
                </a:lnTo>
                <a:lnTo>
                  <a:pt x="807529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9174" y="2417813"/>
            <a:ext cx="1623060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22800" y="2716185"/>
            <a:ext cx="14042401" cy="7021200"/>
          </a:xfrm>
          <a:custGeom>
            <a:avLst/>
            <a:gdLst/>
            <a:ahLst/>
            <a:cxnLst/>
            <a:rect r="r" b="b" t="t" l="l"/>
            <a:pathLst>
              <a:path h="7021200" w="14042401">
                <a:moveTo>
                  <a:pt x="0" y="0"/>
                </a:moveTo>
                <a:lnTo>
                  <a:pt x="14042400" y="0"/>
                </a:lnTo>
                <a:lnTo>
                  <a:pt x="14042400" y="7021200"/>
                </a:lnTo>
                <a:lnTo>
                  <a:pt x="0" y="702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8225" y="962025"/>
            <a:ext cx="81153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Gantt Chart: FYP-II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90760" y="968976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blurred colorful gradient shape"/>
          <p:cNvSpPr/>
          <p:nvPr/>
        </p:nvSpPr>
        <p:spPr>
          <a:xfrm flipH="false" flipV="false" rot="4194878">
            <a:off x="-1299255" y="-3855503"/>
            <a:ext cx="14212134" cy="14034482"/>
          </a:xfrm>
          <a:custGeom>
            <a:avLst/>
            <a:gdLst/>
            <a:ahLst/>
            <a:cxnLst/>
            <a:rect r="r" b="b" t="t" l="l"/>
            <a:pathLst>
              <a:path h="14034482" w="14212134">
                <a:moveTo>
                  <a:pt x="0" y="0"/>
                </a:moveTo>
                <a:lnTo>
                  <a:pt x="14212134" y="0"/>
                </a:lnTo>
                <a:lnTo>
                  <a:pt x="14212134" y="14034482"/>
                </a:lnTo>
                <a:lnTo>
                  <a:pt x="0" y="1403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699" y="2457639"/>
            <a:ext cx="1623060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6661" y="2708146"/>
            <a:ext cx="14954678" cy="7015931"/>
          </a:xfrm>
          <a:custGeom>
            <a:avLst/>
            <a:gdLst/>
            <a:ahLst/>
            <a:cxnLst/>
            <a:rect r="r" b="b" t="t" l="l"/>
            <a:pathLst>
              <a:path h="7015931" w="14954678">
                <a:moveTo>
                  <a:pt x="0" y="0"/>
                </a:moveTo>
                <a:lnTo>
                  <a:pt x="14954678" y="0"/>
                </a:lnTo>
                <a:lnTo>
                  <a:pt x="14954678" y="7015931"/>
                </a:lnTo>
                <a:lnTo>
                  <a:pt x="0" y="701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3287" y="962025"/>
            <a:ext cx="994704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Model Canvas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56714" y="967645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DAHVzypCMXE</dc:identifier>
  <dcterms:modified xsi:type="dcterms:W3CDTF">2011-08-01T06:04:30Z</dcterms:modified>
  <cp:revision>1</cp:revision>
  <dc:title>1</dc:title>
</cp:coreProperties>
</file>